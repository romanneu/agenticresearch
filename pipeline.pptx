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58" r:id="rId5"/>
    <p:sldId id="260" r:id="rId6"/>
    <p:sldId id="261" r:id="rId7"/>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60"/>
  </p:normalViewPr>
  <p:slideViewPr>
    <p:cSldViewPr snapToGrid="0">
      <p:cViewPr varScale="1">
        <p:scale>
          <a:sx n="88" d="100"/>
          <a:sy n="88" d="100"/>
        </p:scale>
        <p:origin x="10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4F071-6CEB-E957-EDBC-ECF7E71B726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85235FB7-769B-01F6-D9ED-7512719965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3F70286E-032C-03CA-96CD-2C23B0B0C99E}"/>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03DAAAA2-1D3D-6C07-4551-5911E309C12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76762A83-272D-55DB-B95A-9B13D26B6A57}"/>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2748247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3C2E-67DD-60E3-B684-B9900AC0469D}"/>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C76BA808-5CE1-6EF4-D398-6E7614B52D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C561112E-A84D-2241-FBA8-04E787FC7DD7}"/>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8D4AC924-5FAD-840F-F845-A3A350A7958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9E4F6749-6467-8556-BDF3-168096557892}"/>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343011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47F4B-5D2E-3480-0047-E7C18F1FDA1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A2A873F8-D88E-3E99-3C3D-A75B4D98BD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60A756D-25EC-39AC-DF22-F4A51DC5142C}"/>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7EFB51B5-2866-FA72-582C-EE32A38DB070}"/>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B75E711-8732-3FCA-0D4F-9771D6A25EF8}"/>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2619429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3A66A-7D30-121B-2645-F85AC6747D90}"/>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17FE1AA1-EC0E-E2EC-4249-B455E84963C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60E4735F-9E20-BACD-A3C2-D29E6B05BED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8362BF1E-56AD-8929-FCAE-E86C3F0AB5E0}"/>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6" name="Footer Placeholder 5">
            <a:extLst>
              <a:ext uri="{FF2B5EF4-FFF2-40B4-BE49-F238E27FC236}">
                <a16:creationId xmlns:a16="http://schemas.microsoft.com/office/drawing/2014/main" id="{3B65C24E-A454-1614-2CF6-D299666AB0D9}"/>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008543E5-395A-0DAB-6CDC-DEC87559BB08}"/>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2793951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3E5A-194C-9C07-46AB-9771ADB1E2A8}"/>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B5BBE07B-9416-E657-BA36-019968CC45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3A0AACB-A8CC-5413-B5E4-7E973CBF147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6BD452E6-1B76-D719-D0DE-73257D6E0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36CCE61-5732-F2B7-35C1-C853BE97DD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D7809FAD-D991-0740-3E79-2101E495DDF9}"/>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8" name="Footer Placeholder 7">
            <a:extLst>
              <a:ext uri="{FF2B5EF4-FFF2-40B4-BE49-F238E27FC236}">
                <a16:creationId xmlns:a16="http://schemas.microsoft.com/office/drawing/2014/main" id="{4946F0B7-7A18-8A92-1835-6140F3761874}"/>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FC6F5CB9-9052-9841-EA0B-1EDF9493DD61}"/>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355143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0D743-ADDF-2A6F-055D-62682F65986B}"/>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398FA5A0-0861-8E5B-BC04-5BCAE789A94E}"/>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4" name="Footer Placeholder 3">
            <a:extLst>
              <a:ext uri="{FF2B5EF4-FFF2-40B4-BE49-F238E27FC236}">
                <a16:creationId xmlns:a16="http://schemas.microsoft.com/office/drawing/2014/main" id="{D38E9D5D-51AE-30AF-5864-F66B6D4600E7}"/>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19673104-8BF1-27F1-428D-ADE84CB5F247}"/>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218375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F3195-A1FC-CBA8-EA87-3A6BE11142E5}"/>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3" name="Footer Placeholder 2">
            <a:extLst>
              <a:ext uri="{FF2B5EF4-FFF2-40B4-BE49-F238E27FC236}">
                <a16:creationId xmlns:a16="http://schemas.microsoft.com/office/drawing/2014/main" id="{EE00AC6E-A463-3ED1-9A8C-0FC0C58C69F1}"/>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BDC479DE-8334-AB76-90C4-E11C94420C3D}"/>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3266041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C7530-035A-6A84-01A3-F8F6E484FD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96431FEE-67AF-83FA-4F75-FD1946D00C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2F88F722-F084-4949-B634-211DAC2C4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48454B-DEE2-FAF4-AA69-63F43950E410}"/>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6" name="Footer Placeholder 5">
            <a:extLst>
              <a:ext uri="{FF2B5EF4-FFF2-40B4-BE49-F238E27FC236}">
                <a16:creationId xmlns:a16="http://schemas.microsoft.com/office/drawing/2014/main" id="{115751AC-04DE-3610-0111-C60C4C0D89C7}"/>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8D569B41-DE64-5E3D-6A66-63E9C9647542}"/>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932764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DE10-78DD-E9C6-EA23-0B920B34762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402C4C40-492E-3817-AA71-45E2A8E895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9D060859-F697-8167-FEED-F02853FF3F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7610AC9-15D7-5E66-CF6F-723184AF76B2}"/>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6" name="Footer Placeholder 5">
            <a:extLst>
              <a:ext uri="{FF2B5EF4-FFF2-40B4-BE49-F238E27FC236}">
                <a16:creationId xmlns:a16="http://schemas.microsoft.com/office/drawing/2014/main" id="{35363D2F-4A95-26F3-7A5E-F9A7D16ED036}"/>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AC69292C-8DB2-F9FC-D44E-0C1CA7A8FCF2}"/>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392715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16573-4F40-648C-F945-E1E7689CF88C}"/>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3AAA9A12-45CF-C766-55AF-7B8397BD104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A2522959-8059-CC2F-FFE0-844F96352D3C}"/>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5CFC58FB-DA46-AF12-C48B-BEF79A4EC459}"/>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8A9A9E1-7383-A32C-FB6E-5B754E4F7604}"/>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1732805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D7706E-8A0B-D9A7-DF5E-FB43387703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CC332A37-9598-DB33-D736-36EAA902E0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9E297DFA-E580-D974-8BF6-613BC1595C94}"/>
              </a:ext>
            </a:extLst>
          </p:cNvPr>
          <p:cNvSpPr>
            <a:spLocks noGrp="1"/>
          </p:cNvSpPr>
          <p:nvPr>
            <p:ph type="dt" sz="half" idx="10"/>
          </p:nvPr>
        </p:nvSpPr>
        <p:spPr/>
        <p:txBody>
          <a:body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43E8351D-1387-3AFC-207B-5F865EC17369}"/>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ED66B907-DD55-7020-5D47-75ADB22D6E9F}"/>
              </a:ext>
            </a:extLst>
          </p:cNvPr>
          <p:cNvSpPr>
            <a:spLocks noGrp="1"/>
          </p:cNvSpPr>
          <p:nvPr>
            <p:ph type="sldNum" sz="quarter" idx="12"/>
          </p:nvPr>
        </p:nvSpPr>
        <p:spPr/>
        <p:txBody>
          <a:bodyPr/>
          <a:lstStyle/>
          <a:p>
            <a:fld id="{C81F5AAB-C5DB-4499-B19A-A1D6217FE8B0}" type="slidenum">
              <a:rPr lang="en-CH" smtClean="0"/>
              <a:t>‹#›</a:t>
            </a:fld>
            <a:endParaRPr lang="en-CH"/>
          </a:p>
        </p:txBody>
      </p:sp>
    </p:spTree>
    <p:extLst>
      <p:ext uri="{BB962C8B-B14F-4D97-AF65-F5344CB8AC3E}">
        <p14:creationId xmlns:p14="http://schemas.microsoft.com/office/powerpoint/2010/main" val="2949735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4F221F-C127-9EA5-3856-B75984DF52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66EF21C9-B8E4-1C20-F14C-CB0CE82DE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B33F5036-5564-2438-B0FB-BC4A826456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4C8527-9A0A-4DFF-8A1F-4E2B5D68FAD5}" type="datetimeFigureOut">
              <a:rPr lang="en-CH" smtClean="0"/>
              <a:t>24.05.2026</a:t>
            </a:fld>
            <a:endParaRPr lang="en-CH"/>
          </a:p>
        </p:txBody>
      </p:sp>
      <p:sp>
        <p:nvSpPr>
          <p:cNvPr id="5" name="Footer Placeholder 4">
            <a:extLst>
              <a:ext uri="{FF2B5EF4-FFF2-40B4-BE49-F238E27FC236}">
                <a16:creationId xmlns:a16="http://schemas.microsoft.com/office/drawing/2014/main" id="{75464FA4-8575-DC9F-F60D-78679B073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BB06E1C2-00AA-A3B2-3BE6-51F65DD2FA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1F5AAB-C5DB-4499-B19A-A1D6217FE8B0}" type="slidenum">
              <a:rPr lang="en-CH" smtClean="0"/>
              <a:t>‹#›</a:t>
            </a:fld>
            <a:endParaRPr lang="en-CH"/>
          </a:p>
        </p:txBody>
      </p:sp>
    </p:spTree>
    <p:extLst>
      <p:ext uri="{BB962C8B-B14F-4D97-AF65-F5344CB8AC3E}">
        <p14:creationId xmlns:p14="http://schemas.microsoft.com/office/powerpoint/2010/main" val="2141848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E7116-2EE9-20F5-0962-32C220B3820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8E54EDB-46A9-6516-FD1D-6E083EB12361}"/>
              </a:ext>
            </a:extLst>
          </p:cNvPr>
          <p:cNvSpPr txBox="1"/>
          <p:nvPr/>
        </p:nvSpPr>
        <p:spPr>
          <a:xfrm>
            <a:off x="457199" y="1229032"/>
            <a:ext cx="10972800" cy="2308324"/>
          </a:xfrm>
          <a:prstGeom prst="rect">
            <a:avLst/>
          </a:prstGeom>
          <a:noFill/>
        </p:spPr>
        <p:txBody>
          <a:bodyPr wrap="square" rtlCol="0">
            <a:spAutoFit/>
          </a:bodyPr>
          <a:lstStyle/>
          <a:p>
            <a:r>
              <a:rPr lang="en-CH" b="1" dirty="0"/>
              <a:t>RAG — Retrieval-Augmented Generation</a:t>
            </a:r>
            <a:r>
              <a:rPr lang="en-CH" dirty="0"/>
              <a:t>. Instead of asking an LLM to reason from memory alone, you pre-process and store structured knowledge (the scores, summaries, topics) in a database, then retrieve the relevant rows at query time to ground the LLM's recommendations in real data.</a:t>
            </a:r>
          </a:p>
          <a:p>
            <a:endParaRPr lang="en-GB" b="1" dirty="0"/>
          </a:p>
          <a:p>
            <a:r>
              <a:rPr lang="en-CH" b="1" dirty="0"/>
              <a:t>The combination of the two</a:t>
            </a:r>
            <a:r>
              <a:rPr lang="en-CH" dirty="0"/>
              <a:t> is increasingly referred to as an </a:t>
            </a:r>
            <a:r>
              <a:rPr lang="en-CH" b="1" dirty="0"/>
              <a:t>AI data pipeline</a:t>
            </a:r>
            <a:r>
              <a:rPr lang="en-CH" dirty="0"/>
              <a:t> or more specifically a </a:t>
            </a:r>
            <a:r>
              <a:rPr lang="en-CH" b="1" dirty="0"/>
              <a:t>structured RAG pipeline</a:t>
            </a:r>
            <a:r>
              <a:rPr lang="en-CH" dirty="0"/>
              <a:t> — the key distinction from classic RAG (which retrieves raw text chunks) being that your retrieval layer returns </a:t>
            </a:r>
            <a:r>
              <a:rPr lang="en-CH" i="1" dirty="0"/>
              <a:t>structured numeric scores</a:t>
            </a:r>
            <a:r>
              <a:rPr lang="en-CH" dirty="0"/>
              <a:t>, which are far more reliable for a reasoning agent than unprocessed text.</a:t>
            </a:r>
          </a:p>
        </p:txBody>
      </p:sp>
    </p:spTree>
    <p:extLst>
      <p:ext uri="{BB962C8B-B14F-4D97-AF65-F5344CB8AC3E}">
        <p14:creationId xmlns:p14="http://schemas.microsoft.com/office/powerpoint/2010/main" val="1147832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D8D75DC-47BF-111B-E91E-E1F145CDA5B6}"/>
              </a:ext>
            </a:extLst>
          </p:cNvPr>
          <p:cNvSpPr txBox="1"/>
          <p:nvPr/>
        </p:nvSpPr>
        <p:spPr>
          <a:xfrm>
            <a:off x="642803" y="1144634"/>
            <a:ext cx="4403308" cy="3323987"/>
          </a:xfrm>
          <a:prstGeom prst="rect">
            <a:avLst/>
          </a:prstGeom>
          <a:noFill/>
        </p:spPr>
        <p:txBody>
          <a:bodyPr wrap="square">
            <a:spAutoFit/>
          </a:bodyPr>
          <a:lstStyle/>
          <a:p>
            <a:pPr>
              <a:buNone/>
            </a:pPr>
            <a:r>
              <a:rPr lang="en-CH" sz="1400" b="1" dirty="0"/>
              <a:t>1 · Universe</a:t>
            </a:r>
            <a:endParaRPr lang="en-CH" sz="1400" dirty="0"/>
          </a:p>
          <a:p>
            <a:pPr>
              <a:buFont typeface="Arial" panose="020B0604020202020204" pitchFamily="34" charset="0"/>
              <a:buChar char="•"/>
            </a:pPr>
            <a:r>
              <a:rPr lang="en-CH" sz="1400" b="1" dirty="0"/>
              <a:t>FMP API</a:t>
            </a:r>
            <a:r>
              <a:rPr lang="en-CH" sz="1400" dirty="0"/>
              <a:t> — pulls S&amp;P 500 and Nasdaq 100 constituents via the stable endpoint, returning ticker, name, sector and exchange for each company</a:t>
            </a:r>
          </a:p>
          <a:p>
            <a:pPr>
              <a:buFont typeface="Arial" panose="020B0604020202020204" pitchFamily="34" charset="0"/>
              <a:buChar char="•"/>
            </a:pPr>
            <a:r>
              <a:rPr lang="en-CH" sz="1400" b="1" dirty="0"/>
              <a:t>Hardcoded lists</a:t>
            </a:r>
            <a:r>
              <a:rPr lang="en-CH" sz="1400" dirty="0"/>
              <a:t> — DAX 40, CAC 40 and SMI 20 tickers are statically defined since FMP has no constituent endpoint for European indices</a:t>
            </a:r>
          </a:p>
          <a:p>
            <a:pPr>
              <a:buFont typeface="Arial" panose="020B0604020202020204" pitchFamily="34" charset="0"/>
              <a:buChar char="•"/>
            </a:pPr>
            <a:r>
              <a:rPr lang="en-CH" sz="1400" b="1" dirty="0"/>
              <a:t>seed_universe.py</a:t>
            </a:r>
            <a:r>
              <a:rPr lang="en-CH" sz="1400" dirty="0"/>
              <a:t> — merges all sources, deduplicates overlapping tickers (e.g. AAPL appears in both S&amp;P 100 and NDX 100), enriches each ticker with a bulk profile call, and </a:t>
            </a:r>
            <a:r>
              <a:rPr lang="en-CH" sz="1400" dirty="0" err="1"/>
              <a:t>upserts</a:t>
            </a:r>
            <a:r>
              <a:rPr lang="en-CH" sz="1400" dirty="0"/>
              <a:t> ~269 rows</a:t>
            </a:r>
          </a:p>
          <a:p>
            <a:pPr>
              <a:buFont typeface="Arial" panose="020B0604020202020204" pitchFamily="34" charset="0"/>
              <a:buChar char="•"/>
            </a:pPr>
            <a:r>
              <a:rPr lang="en-CH" sz="1400" b="1" dirty="0" err="1"/>
              <a:t>stock_universe</a:t>
            </a:r>
            <a:r>
              <a:rPr lang="en-CH" sz="1400" b="1" dirty="0"/>
              <a:t> table</a:t>
            </a:r>
            <a:r>
              <a:rPr lang="en-CH" sz="1400" dirty="0"/>
              <a:t> — single source of truth for the investment universe; includes ticker, name, exchange, sector, industry, country and an </a:t>
            </a:r>
            <a:r>
              <a:rPr lang="en-CH" sz="1400" dirty="0">
                <a:latin typeface="Courier New" panose="02070309020205020404" pitchFamily="49" charset="0"/>
              </a:rPr>
              <a:t>active</a:t>
            </a:r>
            <a:r>
              <a:rPr lang="en-CH" sz="1400" dirty="0"/>
              <a:t> flag to pause any ticker without deleting it</a:t>
            </a:r>
          </a:p>
        </p:txBody>
      </p:sp>
      <p:pic>
        <p:nvPicPr>
          <p:cNvPr id="11" name="Picture 10" descr="The diagram illustrates a workflow involving a universe of stocks and tickers, fetching transcripts, analyzing them for various metrics, and storing the results in a database.&#10;&#10;AI-generated content may be incorrect.">
            <a:extLst>
              <a:ext uri="{FF2B5EF4-FFF2-40B4-BE49-F238E27FC236}">
                <a16:creationId xmlns:a16="http://schemas.microsoft.com/office/drawing/2014/main" id="{53588E7E-E4FF-35DC-469A-AAF57B5E6558}"/>
              </a:ext>
            </a:extLst>
          </p:cNvPr>
          <p:cNvPicPr>
            <a:picLocks noChangeAspect="1"/>
          </p:cNvPicPr>
          <p:nvPr/>
        </p:nvPicPr>
        <p:blipFill>
          <a:blip r:embed="rId2"/>
          <a:stretch>
            <a:fillRect/>
          </a:stretch>
        </p:blipFill>
        <p:spPr>
          <a:xfrm>
            <a:off x="6306183" y="1379629"/>
            <a:ext cx="5243014" cy="4747671"/>
          </a:xfrm>
          <a:prstGeom prst="rect">
            <a:avLst/>
          </a:prstGeom>
        </p:spPr>
      </p:pic>
      <p:sp>
        <p:nvSpPr>
          <p:cNvPr id="12" name="TextBox 11">
            <a:extLst>
              <a:ext uri="{FF2B5EF4-FFF2-40B4-BE49-F238E27FC236}">
                <a16:creationId xmlns:a16="http://schemas.microsoft.com/office/drawing/2014/main" id="{0CE2AEAD-F9CA-887C-9D44-87929E8878BD}"/>
              </a:ext>
            </a:extLst>
          </p:cNvPr>
          <p:cNvSpPr txBox="1"/>
          <p:nvPr/>
        </p:nvSpPr>
        <p:spPr>
          <a:xfrm>
            <a:off x="481781" y="176981"/>
            <a:ext cx="10972800" cy="369332"/>
          </a:xfrm>
          <a:prstGeom prst="rect">
            <a:avLst/>
          </a:prstGeom>
          <a:noFill/>
        </p:spPr>
        <p:txBody>
          <a:bodyPr wrap="square" rtlCol="0">
            <a:spAutoFit/>
          </a:bodyPr>
          <a:lstStyle/>
          <a:p>
            <a:r>
              <a:rPr lang="en-GB" dirty="0"/>
              <a:t>Data Pipeline Process</a:t>
            </a:r>
            <a:endParaRPr lang="en-CH" dirty="0"/>
          </a:p>
        </p:txBody>
      </p:sp>
    </p:spTree>
    <p:extLst>
      <p:ext uri="{BB962C8B-B14F-4D97-AF65-F5344CB8AC3E}">
        <p14:creationId xmlns:p14="http://schemas.microsoft.com/office/powerpoint/2010/main" val="144279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545A3-32C7-7C7A-9321-BDD74E68C6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CFE78F-C1A3-AFF2-91CD-046CBF33FE29}"/>
              </a:ext>
            </a:extLst>
          </p:cNvPr>
          <p:cNvSpPr txBox="1"/>
          <p:nvPr/>
        </p:nvSpPr>
        <p:spPr>
          <a:xfrm>
            <a:off x="393289" y="962823"/>
            <a:ext cx="11198943" cy="2031325"/>
          </a:xfrm>
          <a:prstGeom prst="rect">
            <a:avLst/>
          </a:prstGeom>
          <a:noFill/>
        </p:spPr>
        <p:txBody>
          <a:bodyPr wrap="square">
            <a:spAutoFit/>
          </a:bodyPr>
          <a:lstStyle/>
          <a:p>
            <a:pPr>
              <a:buNone/>
            </a:pPr>
            <a:r>
              <a:rPr lang="en-CH" sz="1400" b="1" dirty="0"/>
              <a:t>2 · Fetch</a:t>
            </a:r>
            <a:endParaRPr lang="en-CH" sz="1400" dirty="0"/>
          </a:p>
          <a:p>
            <a:pPr>
              <a:buFont typeface="Arial" panose="020B0604020202020204" pitchFamily="34" charset="0"/>
              <a:buChar char="•"/>
            </a:pPr>
            <a:r>
              <a:rPr lang="en-CH" sz="1400" b="1" dirty="0"/>
              <a:t>fetch_transcripts.py</a:t>
            </a:r>
            <a:r>
              <a:rPr lang="en-CH" sz="1400" dirty="0"/>
              <a:t> — runs daily, reads all active tickers from </a:t>
            </a:r>
            <a:r>
              <a:rPr lang="en-CH" sz="1400" dirty="0" err="1">
                <a:latin typeface="Courier New" panose="02070309020205020404" pitchFamily="49" charset="0"/>
              </a:rPr>
              <a:t>stock_universe</a:t>
            </a:r>
            <a:r>
              <a:rPr lang="en-CH" sz="1400" dirty="0"/>
              <a:t>, and fetches the latest earnings call transcript from FMP for each</a:t>
            </a:r>
          </a:p>
          <a:p>
            <a:pPr>
              <a:buFont typeface="Arial" panose="020B0604020202020204" pitchFamily="34" charset="0"/>
              <a:buChar char="•"/>
            </a:pPr>
            <a:r>
              <a:rPr lang="en-CH" sz="1400" b="1" dirty="0"/>
              <a:t>Already stored?</a:t>
            </a:r>
            <a:r>
              <a:rPr lang="en-CH" sz="1400" dirty="0"/>
              <a:t> — for each ticker, checks if the next expected quarter already exists in the database; if yes, skips the FMP call entirely to preserve history and avoid unnecessary API usage</a:t>
            </a:r>
          </a:p>
          <a:p>
            <a:pPr>
              <a:buFont typeface="Arial" panose="020B0604020202020204" pitchFamily="34" charset="0"/>
              <a:buChar char="•"/>
            </a:pPr>
            <a:r>
              <a:rPr lang="en-CH" sz="1400" b="1" dirty="0"/>
              <a:t>FMP transcript API</a:t>
            </a:r>
            <a:r>
              <a:rPr lang="en-CH" sz="1400" dirty="0"/>
              <a:t> — calls the stable </a:t>
            </a:r>
            <a:r>
              <a:rPr lang="en-CH" sz="1400" dirty="0">
                <a:latin typeface="Courier New" panose="02070309020205020404" pitchFamily="49" charset="0"/>
              </a:rPr>
              <a:t>earning-call-transcript</a:t>
            </a:r>
            <a:r>
              <a:rPr lang="en-CH" sz="1400" dirty="0"/>
              <a:t> endpoint with symbol, year and quarter; steps back up to 6 quarters to find the most recent available transcript</a:t>
            </a:r>
          </a:p>
          <a:p>
            <a:pPr>
              <a:buFont typeface="Arial" panose="020B0604020202020204" pitchFamily="34" charset="0"/>
              <a:buChar char="•"/>
            </a:pPr>
            <a:r>
              <a:rPr lang="en-CH" sz="1400" b="1" dirty="0" err="1"/>
              <a:t>earnings_transcripts</a:t>
            </a:r>
            <a:r>
              <a:rPr lang="en-CH" sz="1400" b="1" dirty="0"/>
              <a:t> table</a:t>
            </a:r>
            <a:r>
              <a:rPr lang="en-CH" sz="1400" dirty="0"/>
              <a:t> — stores the full transcript text alongside ticker, year, quarter and earnings date; one row per company per quarter, with a unique constraint to prevent duplicates</a:t>
            </a:r>
          </a:p>
        </p:txBody>
      </p:sp>
      <p:sp>
        <p:nvSpPr>
          <p:cNvPr id="5" name="TextBox 4">
            <a:extLst>
              <a:ext uri="{FF2B5EF4-FFF2-40B4-BE49-F238E27FC236}">
                <a16:creationId xmlns:a16="http://schemas.microsoft.com/office/drawing/2014/main" id="{BC3AD2BD-7527-B00E-D369-5EEB2CB74F56}"/>
              </a:ext>
            </a:extLst>
          </p:cNvPr>
          <p:cNvSpPr txBox="1"/>
          <p:nvPr/>
        </p:nvSpPr>
        <p:spPr>
          <a:xfrm>
            <a:off x="393289" y="3521754"/>
            <a:ext cx="11198943" cy="1600438"/>
          </a:xfrm>
          <a:prstGeom prst="rect">
            <a:avLst/>
          </a:prstGeom>
          <a:noFill/>
        </p:spPr>
        <p:txBody>
          <a:bodyPr wrap="square">
            <a:spAutoFit/>
          </a:bodyPr>
          <a:lstStyle/>
          <a:p>
            <a:pPr>
              <a:buNone/>
            </a:pPr>
            <a:r>
              <a:rPr lang="en-GB" sz="1400" b="1" dirty="0"/>
              <a:t>3 . </a:t>
            </a:r>
            <a:r>
              <a:rPr lang="en-CH" sz="1400" b="1" dirty="0"/>
              <a:t>Analyse</a:t>
            </a:r>
            <a:endParaRPr lang="en-CH" sz="1400" dirty="0"/>
          </a:p>
          <a:p>
            <a:pPr>
              <a:buFont typeface="Arial" panose="020B0604020202020204" pitchFamily="34" charset="0"/>
              <a:buChar char="•"/>
            </a:pPr>
            <a:r>
              <a:rPr lang="en-CH" sz="1400" b="1" dirty="0"/>
              <a:t>analyze_transcripts.py</a:t>
            </a:r>
            <a:r>
              <a:rPr lang="en-CH" sz="1400" dirty="0"/>
              <a:t> — reads all rows where </a:t>
            </a:r>
            <a:r>
              <a:rPr lang="en-CH" sz="1400" dirty="0" err="1">
                <a:latin typeface="Courier New" panose="02070309020205020404" pitchFamily="49" charset="0"/>
              </a:rPr>
              <a:t>sentiment_score</a:t>
            </a:r>
            <a:r>
              <a:rPr lang="en-CH" sz="1400" dirty="0"/>
              <a:t> is null (i.e. not yet scored), sends each transcript to OpenAI, and writes the results back as dedicated columns</a:t>
            </a:r>
          </a:p>
          <a:p>
            <a:pPr>
              <a:buFont typeface="Arial" panose="020B0604020202020204" pitchFamily="34" charset="0"/>
              <a:buChar char="•"/>
            </a:pPr>
            <a:r>
              <a:rPr lang="en-CH" sz="1400" b="1" dirty="0"/>
              <a:t>OpenAI gpt-5.4-mini</a:t>
            </a:r>
            <a:r>
              <a:rPr lang="en-CH" sz="1400" dirty="0"/>
              <a:t> — receives a structured prompt with the full transcript text and returns a JSON object of 10 integer scores on a 0–10 scale; temperature set to 0.1 for consistent output</a:t>
            </a:r>
          </a:p>
          <a:p>
            <a:pPr>
              <a:buFont typeface="Arial" panose="020B0604020202020204" pitchFamily="34" charset="0"/>
              <a:buChar char="•"/>
            </a:pPr>
            <a:r>
              <a:rPr lang="en-CH" sz="1400" b="1" dirty="0"/>
              <a:t>10 score columns</a:t>
            </a:r>
            <a:r>
              <a:rPr lang="en-CH" sz="1400" dirty="0"/>
              <a:t> — sentiment, guidance, confidence, uncertainty, hedge, analyst trust, deflection, forward outlook, risk and innovation; each stored as a </a:t>
            </a:r>
            <a:r>
              <a:rPr lang="en-CH" sz="1400" dirty="0" err="1">
                <a:latin typeface="Courier New" panose="02070309020205020404" pitchFamily="49" charset="0"/>
              </a:rPr>
              <a:t>smallint</a:t>
            </a:r>
            <a:r>
              <a:rPr lang="en-CH" sz="1400" dirty="0"/>
              <a:t> column with a 0–10 check constraint directly in the table</a:t>
            </a:r>
          </a:p>
        </p:txBody>
      </p:sp>
      <p:sp>
        <p:nvSpPr>
          <p:cNvPr id="6" name="TextBox 5">
            <a:extLst>
              <a:ext uri="{FF2B5EF4-FFF2-40B4-BE49-F238E27FC236}">
                <a16:creationId xmlns:a16="http://schemas.microsoft.com/office/drawing/2014/main" id="{22D7EAB4-20AD-8DAC-718A-755FB0EE1308}"/>
              </a:ext>
            </a:extLst>
          </p:cNvPr>
          <p:cNvSpPr txBox="1"/>
          <p:nvPr/>
        </p:nvSpPr>
        <p:spPr>
          <a:xfrm>
            <a:off x="481781" y="176981"/>
            <a:ext cx="10972800" cy="369332"/>
          </a:xfrm>
          <a:prstGeom prst="rect">
            <a:avLst/>
          </a:prstGeom>
          <a:noFill/>
        </p:spPr>
        <p:txBody>
          <a:bodyPr wrap="square" rtlCol="0">
            <a:spAutoFit/>
          </a:bodyPr>
          <a:lstStyle/>
          <a:p>
            <a:r>
              <a:rPr lang="en-GB" dirty="0"/>
              <a:t>Data Pipeline Process</a:t>
            </a:r>
            <a:endParaRPr lang="en-CH" dirty="0"/>
          </a:p>
        </p:txBody>
      </p:sp>
    </p:spTree>
    <p:extLst>
      <p:ext uri="{BB962C8B-B14F-4D97-AF65-F5344CB8AC3E}">
        <p14:creationId xmlns:p14="http://schemas.microsoft.com/office/powerpoint/2010/main" val="313235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7DCF7-DB03-8491-5535-7D7E46EF0A4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BF8DF6-4036-1497-9D41-8FFC9F21A257}"/>
              </a:ext>
            </a:extLst>
          </p:cNvPr>
          <p:cNvSpPr txBox="1"/>
          <p:nvPr/>
        </p:nvSpPr>
        <p:spPr>
          <a:xfrm>
            <a:off x="412955" y="582067"/>
            <a:ext cx="11061289" cy="6340197"/>
          </a:xfrm>
          <a:prstGeom prst="rect">
            <a:avLst/>
          </a:prstGeom>
          <a:noFill/>
        </p:spPr>
        <p:txBody>
          <a:bodyPr wrap="square">
            <a:spAutoFit/>
          </a:bodyPr>
          <a:lstStyle/>
          <a:p>
            <a:pPr>
              <a:buNone/>
            </a:pPr>
            <a:r>
              <a:rPr lang="en-CH" sz="1400" b="1" dirty="0" err="1"/>
              <a:t>sentiment_score</a:t>
            </a:r>
            <a:r>
              <a:rPr lang="en-CH" sz="1400" dirty="0"/>
              <a:t> — Measures the overall emotional tone of the transcript. A high score signals management is upbeat about results and the business; a low score flags concern, disappointment or defensiveness.</a:t>
            </a:r>
          </a:p>
          <a:p>
            <a:pPr>
              <a:buNone/>
            </a:pPr>
            <a:endParaRPr lang="en-GB" sz="1400" b="1" dirty="0"/>
          </a:p>
          <a:p>
            <a:pPr>
              <a:buNone/>
            </a:pPr>
            <a:r>
              <a:rPr lang="en-CH" sz="1400" b="1" dirty="0" err="1"/>
              <a:t>guidance_score</a:t>
            </a:r>
            <a:r>
              <a:rPr lang="en-CH" sz="1400" dirty="0"/>
              <a:t> — Captures whether management raised, maintained or lowered its forward outlook. The single most market-moving signal in any earnings call.</a:t>
            </a:r>
          </a:p>
          <a:p>
            <a:pPr>
              <a:buNone/>
            </a:pPr>
            <a:endParaRPr lang="en-GB" sz="1400" b="1" dirty="0"/>
          </a:p>
          <a:p>
            <a:pPr>
              <a:buNone/>
            </a:pPr>
            <a:r>
              <a:rPr lang="en-CH" sz="1400" b="1" dirty="0" err="1"/>
              <a:t>confidence_score</a:t>
            </a:r>
            <a:r>
              <a:rPr lang="en-CH" sz="1400" dirty="0"/>
              <a:t> — Reflects how assertive and specific management sounds in prepared remarks. High confidence typically correlates with strong visibility into the business; low confidence suggests uncertainty about the path ahead.</a:t>
            </a:r>
          </a:p>
          <a:p>
            <a:pPr>
              <a:buNone/>
            </a:pPr>
            <a:endParaRPr lang="en-GB" sz="1400" b="1" dirty="0"/>
          </a:p>
          <a:p>
            <a:pPr>
              <a:buNone/>
            </a:pPr>
            <a:r>
              <a:rPr lang="en-CH" sz="1400" b="1" dirty="0" err="1"/>
              <a:t>uncertainty_score</a:t>
            </a:r>
            <a:r>
              <a:rPr lang="en-CH" sz="1400" dirty="0"/>
              <a:t> — Counts how often management uses vague, qualified or non-committal language. A rising uncertainty score quarter-over-quarter is an early warning signal even when headline numbers look fine.</a:t>
            </a:r>
          </a:p>
          <a:p>
            <a:pPr>
              <a:buNone/>
            </a:pPr>
            <a:endParaRPr lang="en-GB" sz="1400" b="1" dirty="0"/>
          </a:p>
          <a:p>
            <a:pPr>
              <a:buNone/>
            </a:pPr>
            <a:r>
              <a:rPr lang="en-CH" sz="1400" b="1" dirty="0" err="1"/>
              <a:t>hedge_score</a:t>
            </a:r>
            <a:r>
              <a:rPr lang="en-CH" sz="1400" dirty="0"/>
              <a:t> — Tracks the density of legal and linguistic hedging ("subject to", "assuming conditions remain", "may", "could"). Heavy hedging often means management is less confident than the prepared script implies.</a:t>
            </a:r>
          </a:p>
          <a:p>
            <a:pPr>
              <a:buNone/>
            </a:pPr>
            <a:endParaRPr lang="en-GB" sz="1400" b="1" dirty="0"/>
          </a:p>
          <a:p>
            <a:pPr>
              <a:buNone/>
            </a:pPr>
            <a:r>
              <a:rPr lang="en-CH" sz="1400" b="1" dirty="0" err="1"/>
              <a:t>analyst_trust_score</a:t>
            </a:r>
            <a:r>
              <a:rPr lang="en-CH" sz="1400" dirty="0"/>
              <a:t> — Infers how satisfied the analyst community is based on Q&amp;A dynamics. When analysts ask short, constructive questions the trust is high; when they probe, repeat themselves or challenge figures, it drops.</a:t>
            </a:r>
          </a:p>
          <a:p>
            <a:pPr>
              <a:buNone/>
            </a:pPr>
            <a:endParaRPr lang="en-GB" sz="1400" b="1" dirty="0"/>
          </a:p>
          <a:p>
            <a:pPr>
              <a:buNone/>
            </a:pPr>
            <a:r>
              <a:rPr lang="en-CH" sz="1400" b="1" dirty="0" err="1"/>
              <a:t>deflection_score</a:t>
            </a:r>
            <a:r>
              <a:rPr lang="en-CH" sz="1400" dirty="0"/>
              <a:t> — Measures how often management avoids, redirects or gives non-answers in the Q&amp;A. A high deflection score on a specific topic — margins, a product line, a market — is a red flag worth investigating.</a:t>
            </a:r>
          </a:p>
          <a:p>
            <a:pPr>
              <a:buNone/>
            </a:pPr>
            <a:endParaRPr lang="en-GB" sz="1400" b="1" dirty="0"/>
          </a:p>
          <a:p>
            <a:pPr>
              <a:buNone/>
            </a:pPr>
            <a:r>
              <a:rPr lang="en-CH" sz="1400" b="1" dirty="0" err="1"/>
              <a:t>forward_outlook_score</a:t>
            </a:r>
            <a:r>
              <a:rPr lang="en-CH" sz="1400" dirty="0"/>
              <a:t> — Scores the strength and positivity of all forward-looking statements combined. Distinct from </a:t>
            </a:r>
            <a:r>
              <a:rPr lang="en-CH" sz="1400" dirty="0" err="1"/>
              <a:t>guidance_score</a:t>
            </a:r>
            <a:r>
              <a:rPr lang="en-CH" sz="1400" dirty="0"/>
              <a:t> in that it captures the broader narrative about demand, pipeline and strategy, not just numerical targets.</a:t>
            </a:r>
          </a:p>
          <a:p>
            <a:pPr>
              <a:buNone/>
            </a:pPr>
            <a:endParaRPr lang="en-GB" sz="1400" b="1" dirty="0"/>
          </a:p>
          <a:p>
            <a:pPr>
              <a:buNone/>
            </a:pPr>
            <a:r>
              <a:rPr lang="en-CH" sz="1400" b="1" dirty="0" err="1"/>
              <a:t>risk_score</a:t>
            </a:r>
            <a:r>
              <a:rPr lang="en-CH" sz="1400" dirty="0"/>
              <a:t> — Counts new or escalating risk factors mentioned during the call. A sudden spike in </a:t>
            </a:r>
            <a:r>
              <a:rPr lang="en-CH" sz="1400" dirty="0" err="1"/>
              <a:t>risk_score</a:t>
            </a:r>
            <a:r>
              <a:rPr lang="en-CH" sz="1400" dirty="0"/>
              <a:t> — tariffs, a key customer, a regulatory issue — often precedes a guidance cut in the following quarter.</a:t>
            </a:r>
          </a:p>
          <a:p>
            <a:pPr>
              <a:buNone/>
            </a:pPr>
            <a:endParaRPr lang="en-GB" sz="1400" b="1" dirty="0"/>
          </a:p>
          <a:p>
            <a:pPr>
              <a:buNone/>
            </a:pPr>
            <a:r>
              <a:rPr lang="en-CH" sz="1400" b="1" dirty="0" err="1"/>
              <a:t>innovation_score</a:t>
            </a:r>
            <a:r>
              <a:rPr lang="en-CH" sz="1400" dirty="0"/>
              <a:t> — Measures the emphasis placed on AI, new products, R&amp;D and strategic investment. High scores indicate a company investing in future growth; low scores may signal a mature or cost-cutting mode business.</a:t>
            </a:r>
          </a:p>
        </p:txBody>
      </p:sp>
      <p:sp>
        <p:nvSpPr>
          <p:cNvPr id="6" name="TextBox 5">
            <a:extLst>
              <a:ext uri="{FF2B5EF4-FFF2-40B4-BE49-F238E27FC236}">
                <a16:creationId xmlns:a16="http://schemas.microsoft.com/office/drawing/2014/main" id="{FF1A690B-0CD2-F4AC-7264-A57570841C34}"/>
              </a:ext>
            </a:extLst>
          </p:cNvPr>
          <p:cNvSpPr txBox="1"/>
          <p:nvPr/>
        </p:nvSpPr>
        <p:spPr>
          <a:xfrm>
            <a:off x="481781" y="176981"/>
            <a:ext cx="10972800" cy="369332"/>
          </a:xfrm>
          <a:prstGeom prst="rect">
            <a:avLst/>
          </a:prstGeom>
          <a:noFill/>
        </p:spPr>
        <p:txBody>
          <a:bodyPr wrap="square" rtlCol="0">
            <a:spAutoFit/>
          </a:bodyPr>
          <a:lstStyle/>
          <a:p>
            <a:r>
              <a:rPr lang="en-GB" dirty="0"/>
              <a:t>Scores</a:t>
            </a:r>
            <a:endParaRPr lang="en-CH" dirty="0"/>
          </a:p>
        </p:txBody>
      </p:sp>
    </p:spTree>
    <p:extLst>
      <p:ext uri="{BB962C8B-B14F-4D97-AF65-F5344CB8AC3E}">
        <p14:creationId xmlns:p14="http://schemas.microsoft.com/office/powerpoint/2010/main" val="1053778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2490F-AC56-90B5-35BC-DBF41302BF4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35549F6-7911-F372-23FB-BA69C6CB9C57}"/>
              </a:ext>
            </a:extLst>
          </p:cNvPr>
          <p:cNvSpPr txBox="1"/>
          <p:nvPr/>
        </p:nvSpPr>
        <p:spPr>
          <a:xfrm>
            <a:off x="481781" y="176981"/>
            <a:ext cx="10972800" cy="369332"/>
          </a:xfrm>
          <a:prstGeom prst="rect">
            <a:avLst/>
          </a:prstGeom>
          <a:noFill/>
        </p:spPr>
        <p:txBody>
          <a:bodyPr wrap="square" rtlCol="0">
            <a:spAutoFit/>
          </a:bodyPr>
          <a:lstStyle/>
          <a:p>
            <a:r>
              <a:rPr lang="en-GB" dirty="0"/>
              <a:t>Composite Scores</a:t>
            </a:r>
            <a:endParaRPr lang="en-CH" dirty="0"/>
          </a:p>
        </p:txBody>
      </p:sp>
      <p:sp>
        <p:nvSpPr>
          <p:cNvPr id="3" name="TextBox 2">
            <a:extLst>
              <a:ext uri="{FF2B5EF4-FFF2-40B4-BE49-F238E27FC236}">
                <a16:creationId xmlns:a16="http://schemas.microsoft.com/office/drawing/2014/main" id="{E7BA1083-1F61-189B-064F-C0C8F64BF2B6}"/>
              </a:ext>
            </a:extLst>
          </p:cNvPr>
          <p:cNvSpPr txBox="1"/>
          <p:nvPr/>
        </p:nvSpPr>
        <p:spPr>
          <a:xfrm>
            <a:off x="566057" y="1278208"/>
            <a:ext cx="6096000" cy="1754326"/>
          </a:xfrm>
          <a:prstGeom prst="rect">
            <a:avLst/>
          </a:prstGeom>
          <a:noFill/>
        </p:spPr>
        <p:txBody>
          <a:bodyPr wrap="square">
            <a:spAutoFit/>
          </a:bodyPr>
          <a:lstStyle/>
          <a:p>
            <a:r>
              <a:rPr lang="en-CH" dirty="0"/>
              <a:t>The </a:t>
            </a:r>
            <a:r>
              <a:rPr lang="en-CH" dirty="0" err="1">
                <a:latin typeface="Courier New" panose="02070309020205020404" pitchFamily="49" charset="0"/>
              </a:rPr>
              <a:t>composite_score</a:t>
            </a:r>
            <a:r>
              <a:rPr lang="en-CH" dirty="0"/>
              <a:t> is the most useful single number — it combines all 10 scores into one 0–10 metric by averaging the bullish indicators directly and inverting the bearish ones (uncertainty, hedge, deflection, risk). A sector with a composite of 8+ is broadly constructive; below 4 is a red flag.</a:t>
            </a:r>
          </a:p>
        </p:txBody>
      </p:sp>
      <p:pic>
        <p:nvPicPr>
          <p:cNvPr id="9" name="Picture 8" descr="The image displays a SQL query for calculating a composite bullish score by averaging selected positive market indicators and inverting and averaging selected negative indicators.&#10;&#10;AI-generated content may be incorrect.">
            <a:extLst>
              <a:ext uri="{FF2B5EF4-FFF2-40B4-BE49-F238E27FC236}">
                <a16:creationId xmlns:a16="http://schemas.microsoft.com/office/drawing/2014/main" id="{03773113-A341-0184-8AA3-99B22A0A4EA3}"/>
              </a:ext>
            </a:extLst>
          </p:cNvPr>
          <p:cNvPicPr>
            <a:picLocks noChangeAspect="1"/>
          </p:cNvPicPr>
          <p:nvPr/>
        </p:nvPicPr>
        <p:blipFill>
          <a:blip r:embed="rId2"/>
          <a:stretch>
            <a:fillRect/>
          </a:stretch>
        </p:blipFill>
        <p:spPr>
          <a:xfrm>
            <a:off x="7164149" y="3429000"/>
            <a:ext cx="4290432" cy="2781541"/>
          </a:xfrm>
          <a:prstGeom prst="rect">
            <a:avLst/>
          </a:prstGeom>
        </p:spPr>
      </p:pic>
    </p:spTree>
    <p:extLst>
      <p:ext uri="{BB962C8B-B14F-4D97-AF65-F5344CB8AC3E}">
        <p14:creationId xmlns:p14="http://schemas.microsoft.com/office/powerpoint/2010/main" val="175286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766A7-08F8-7787-F5DA-AD66B276F1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53D9404-4490-B4AE-F652-A2626BAE86F5}"/>
              </a:ext>
            </a:extLst>
          </p:cNvPr>
          <p:cNvSpPr txBox="1"/>
          <p:nvPr/>
        </p:nvSpPr>
        <p:spPr>
          <a:xfrm>
            <a:off x="481781" y="176981"/>
            <a:ext cx="10972800" cy="369332"/>
          </a:xfrm>
          <a:prstGeom prst="rect">
            <a:avLst/>
          </a:prstGeom>
          <a:noFill/>
        </p:spPr>
        <p:txBody>
          <a:bodyPr wrap="square" rtlCol="0">
            <a:spAutoFit/>
          </a:bodyPr>
          <a:lstStyle/>
          <a:p>
            <a:r>
              <a:rPr lang="en-GB" dirty="0"/>
              <a:t>Updates</a:t>
            </a:r>
            <a:endParaRPr lang="en-CH" dirty="0"/>
          </a:p>
        </p:txBody>
      </p:sp>
      <p:pic>
        <p:nvPicPr>
          <p:cNvPr id="4" name="Picture 3" descr="The image displays a table or interface with various fields such as 'Type', 'Auto-', 'Refreshed by', and 'View', along with different data points and functions related to stock market metrics like sector sentiment, industry sentiment, sector returns, and volatility matrices, all suggesting an automated or dynamic data visualization system.&#10;&#10;AI-generated content may be incorrect.">
            <a:extLst>
              <a:ext uri="{FF2B5EF4-FFF2-40B4-BE49-F238E27FC236}">
                <a16:creationId xmlns:a16="http://schemas.microsoft.com/office/drawing/2014/main" id="{05633590-ACDA-6835-86FD-6C1D745F16D9}"/>
              </a:ext>
            </a:extLst>
          </p:cNvPr>
          <p:cNvPicPr>
            <a:picLocks noChangeAspect="1"/>
          </p:cNvPicPr>
          <p:nvPr/>
        </p:nvPicPr>
        <p:blipFill>
          <a:blip r:embed="rId2"/>
          <a:stretch>
            <a:fillRect/>
          </a:stretch>
        </p:blipFill>
        <p:spPr>
          <a:xfrm>
            <a:off x="567488" y="925153"/>
            <a:ext cx="7000558" cy="4583017"/>
          </a:xfrm>
          <a:prstGeom prst="rect">
            <a:avLst/>
          </a:prstGeom>
        </p:spPr>
      </p:pic>
    </p:spTree>
    <p:extLst>
      <p:ext uri="{BB962C8B-B14F-4D97-AF65-F5344CB8AC3E}">
        <p14:creationId xmlns:p14="http://schemas.microsoft.com/office/powerpoint/2010/main" val="968792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947</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Roman Neuhauser</dc:creator>
  <cp:lastModifiedBy>Roman Neuhauser</cp:lastModifiedBy>
  <cp:revision>1</cp:revision>
  <dcterms:created xsi:type="dcterms:W3CDTF">2026-05-24T16:39:31Z</dcterms:created>
  <dcterms:modified xsi:type="dcterms:W3CDTF">2026-05-25T15:41:30Z</dcterms:modified>
</cp:coreProperties>
</file>